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6657" y="1688251"/>
            <a:ext cx="7021409" cy="1832189"/>
          </a:xfrm>
        </p:spPr>
        <p:txBody>
          <a:bodyPr/>
          <a:lstStyle/>
          <a:p>
            <a:r>
              <a:rPr lang="en-US" sz="4000" dirty="0"/>
              <a:t>Sentiment Analysis on Amazon Reviews using </a:t>
            </a:r>
            <a:r>
              <a:rPr lang="en-US" sz="4000" dirty="0" smtClean="0"/>
              <a:t>ML </a:t>
            </a:r>
            <a:r>
              <a:rPr lang="en-US" sz="4000" dirty="0"/>
              <a:t>and </a:t>
            </a:r>
            <a:r>
              <a:rPr lang="en-US" sz="4000" dirty="0" smtClean="0"/>
              <a:t>DL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7" y="4023360"/>
            <a:ext cx="6815669" cy="1320802"/>
          </a:xfrm>
        </p:spPr>
        <p:txBody>
          <a:bodyPr/>
          <a:lstStyle/>
          <a:p>
            <a:r>
              <a:rPr lang="en-US" dirty="0" smtClean="0"/>
              <a:t>Manal </a:t>
            </a:r>
            <a:r>
              <a:rPr lang="en-US" dirty="0" err="1" smtClean="0"/>
              <a:t>Asghar</a:t>
            </a:r>
            <a:r>
              <a:rPr lang="en-US" dirty="0" smtClean="0"/>
              <a:t> and Maryam </a:t>
            </a:r>
            <a:r>
              <a:rPr lang="en-US" dirty="0" err="1" smtClean="0"/>
              <a:t>Hannan</a:t>
            </a:r>
            <a:endParaRPr lang="en-US" dirty="0" smtClean="0"/>
          </a:p>
          <a:p>
            <a:r>
              <a:rPr lang="en-US" dirty="0" smtClean="0"/>
              <a:t>Fa24msds0004 and Fa24msds0021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55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446685"/>
            <a:ext cx="956479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is an important NLP task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classify text into positive or negative sentiment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reviews provide large-scale real-world text data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ML, DL, and Transformer-based models</a:t>
            </a:r>
          </a:p>
        </p:txBody>
      </p:sp>
    </p:spTree>
    <p:extLst>
      <p:ext uri="{BB962C8B-B14F-4D97-AF65-F5344CB8AC3E}">
        <p14:creationId xmlns:p14="http://schemas.microsoft.com/office/powerpoint/2010/main" val="54862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0" y="2654026"/>
            <a:ext cx="960119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Polarity Dataset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sentiment classification (Positive / Negative)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title and content merged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set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8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593136"/>
            <a:ext cx="6279283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/ Validation / Test split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Padding and truncation (for deep models)</a:t>
            </a:r>
          </a:p>
        </p:txBody>
      </p:sp>
    </p:spTree>
    <p:extLst>
      <p:ext uri="{BB962C8B-B14F-4D97-AF65-F5344CB8AC3E}">
        <p14:creationId xmlns:p14="http://schemas.microsoft.com/office/powerpoint/2010/main" val="309583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Implemented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554408"/>
            <a:ext cx="716895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(TF-IDF)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Enhancement: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fine-tuning (Transfer Learning)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67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classifier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93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layer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layer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output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85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BERT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Pre-trained transformer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Fine-tuned for sentiment classification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0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5401" y="2554408"/>
            <a:ext cx="303480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593404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321471"/>
              </p:ext>
            </p:extLst>
          </p:nvPr>
        </p:nvGraphicFramePr>
        <p:xfrm>
          <a:off x="1028699" y="2514598"/>
          <a:ext cx="9646920" cy="358902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929384">
                  <a:extLst>
                    <a:ext uri="{9D8B030D-6E8A-4147-A177-3AD203B41FA5}">
                      <a16:colId xmlns:a16="http://schemas.microsoft.com/office/drawing/2014/main" val="4068726290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47720454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4177740902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060894303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848354887"/>
                    </a:ext>
                  </a:extLst>
                </a:gridCol>
              </a:tblGrid>
              <a:tr h="871465">
                <a:tc>
                  <a:txBody>
                    <a:bodyPr/>
                    <a:lstStyle/>
                    <a:p>
                      <a:r>
                        <a:rPr lang="en-US" sz="2800"/>
                        <a:t>Model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Accuracy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Precision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Recall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F1-score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extLst>
                  <a:ext uri="{0D108BD9-81ED-4DB2-BD59-A6C34878D82A}">
                    <a16:rowId xmlns:a16="http://schemas.microsoft.com/office/drawing/2014/main" val="2221591288"/>
                  </a:ext>
                </a:extLst>
              </a:tr>
              <a:tr h="974626">
                <a:tc>
                  <a:txBody>
                    <a:bodyPr/>
                    <a:lstStyle/>
                    <a:p>
                      <a:r>
                        <a:rPr lang="en-US" sz="2800" dirty="0"/>
                        <a:t>Logistic Regression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0.90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0.90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0.91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0.91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extLst>
                  <a:ext uri="{0D108BD9-81ED-4DB2-BD59-A6C34878D82A}">
                    <a16:rowId xmlns:a16="http://schemas.microsoft.com/office/drawing/2014/main" val="3981870604"/>
                  </a:ext>
                </a:extLst>
              </a:tr>
              <a:tr h="871465">
                <a:tc>
                  <a:txBody>
                    <a:bodyPr/>
                    <a:lstStyle/>
                    <a:p>
                      <a:r>
                        <a:rPr lang="en-US" sz="2800"/>
                        <a:t>GRU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0.49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0.95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0.96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0.95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extLst>
                  <a:ext uri="{0D108BD9-81ED-4DB2-BD59-A6C34878D82A}">
                    <a16:rowId xmlns:a16="http://schemas.microsoft.com/office/drawing/2014/main" val="1056988076"/>
                  </a:ext>
                </a:extLst>
              </a:tr>
              <a:tr h="871465">
                <a:tc>
                  <a:txBody>
                    <a:bodyPr/>
                    <a:lstStyle/>
                    <a:p>
                      <a:r>
                        <a:rPr lang="en-US" sz="2800"/>
                        <a:t>BERT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0.95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0.95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0.96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0.95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374" marR="41374" marT="20687" marB="20687" anchor="ctr"/>
                </a:tc>
                <a:extLst>
                  <a:ext uri="{0D108BD9-81ED-4DB2-BD59-A6C34878D82A}">
                    <a16:rowId xmlns:a16="http://schemas.microsoft.com/office/drawing/2014/main" val="362701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931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Visualization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" y="2057399"/>
            <a:ext cx="10881360" cy="43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47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95400" y="2512345"/>
            <a:ext cx="9734588" cy="34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lacks contextual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GRU captures sequence information but is slow and unstable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performs best due to pre-trained contextual representations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significantly improves performance</a:t>
            </a:r>
          </a:p>
        </p:txBody>
      </p:sp>
    </p:spTree>
    <p:extLst>
      <p:ext uri="{BB962C8B-B14F-4D97-AF65-F5344CB8AC3E}">
        <p14:creationId xmlns:p14="http://schemas.microsoft.com/office/powerpoint/2010/main" val="195594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0" y="2943232"/>
            <a:ext cx="10034478" cy="254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achieved the highest accuracy and balanced metrics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serve as good baselines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are most effective for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691654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404</TotalTime>
  <Words>236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Sentiment Analysis on Amazon Reviews using ML and DL</vt:lpstr>
      <vt:lpstr>Introduction</vt:lpstr>
      <vt:lpstr>Dataset</vt:lpstr>
      <vt:lpstr>Preprocessing</vt:lpstr>
      <vt:lpstr>Models Implemented</vt:lpstr>
      <vt:lpstr>Model Architecture</vt:lpstr>
      <vt:lpstr>Model Architecture</vt:lpstr>
      <vt:lpstr>Model Architecture</vt:lpstr>
      <vt:lpstr>Evaluation Metrics</vt:lpstr>
      <vt:lpstr>Evaluation Metrics</vt:lpstr>
      <vt:lpstr>Results Visualization</vt:lpstr>
      <vt:lpstr>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on Amazon Reviews using ML and DL</dc:title>
  <dc:creator>smc</dc:creator>
  <cp:lastModifiedBy>smc</cp:lastModifiedBy>
  <cp:revision>9</cp:revision>
  <dcterms:created xsi:type="dcterms:W3CDTF">2026-01-14T18:45:26Z</dcterms:created>
  <dcterms:modified xsi:type="dcterms:W3CDTF">2026-01-16T18:49:20Z</dcterms:modified>
</cp:coreProperties>
</file>